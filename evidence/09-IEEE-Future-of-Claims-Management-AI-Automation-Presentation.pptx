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4"/>
    <p:sldId id="267" r:id="rId17"/>
    <p:sldId id="268" r:id="rId18"/>
    <p:sldId id="269" r:id="rId19"/>
    <p:sldId id="270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78040" y="0"/>
            <a:ext cx="5010912" cy="6858000"/>
          </a:xfrm>
          <a:prstGeom prst="rect">
            <a:avLst/>
          </a:prstGeom>
          <a:solidFill>
            <a:srgbClr val="17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The Future of
Claims Management
with AI and Automation</a:t>
            </a:r>
          </a:p>
          <a:p>
            <a:pPr>
              <a:spcBef>
                <a:spcPts val="1400"/>
              </a:spcBef>
              <a:defRPr sz="1700">
                <a:solidFill>
                  <a:srgbClr val="CFE0F5"/>
                </a:solidFill>
                <a:latin typeface="Aptos"/>
              </a:defRPr>
            </a:pPr>
            <a:r>
              <a:t>From manual workflows to intelligent, human-centered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69080"/>
            <a:ext cx="6126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Santosh Kumar Vududala</a:t>
            </a:r>
          </a:p>
          <a:p>
            <a:pPr>
              <a:defRPr sz="1400">
                <a:solidFill>
                  <a:srgbClr val="CFE0F5"/>
                </a:solidFill>
                <a:latin typeface="Aptos"/>
              </a:defRPr>
            </a:pPr>
            <a:r>
              <a:t>GenAI Automation Architect &amp; QA Engineering Manager</a:t>
            </a:r>
          </a:p>
          <a:p>
            <a:pPr>
              <a:defRPr sz="1300">
                <a:solidFill>
                  <a:srgbClr val="CFE0F5"/>
                </a:solidFill>
                <a:latin typeface="Aptos"/>
              </a:defRPr>
            </a:pPr>
            <a:r>
              <a:t>IEEE Computer Society • Columbia Section (USA)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097280"/>
            <a:ext cx="3794760" cy="11430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097280"/>
            <a:ext cx="64008" cy="114300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216152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CLAIM IN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Documents • emails • forms • supporting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51760"/>
            <a:ext cx="3794760" cy="11430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651760"/>
            <a:ext cx="64008" cy="114300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2770632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AI + AUTOMATION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Understand • classify • extract • validate • summarize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206240"/>
            <a:ext cx="3794760" cy="11430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4206240"/>
            <a:ext cx="64008" cy="114300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4325112"/>
            <a:ext cx="3520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BETTER OUTCOME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Faster handling • better consistency • human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Why Claims Management Is Ready for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Claims are information-heavy workflows: documents, images, emails, forms, policies, and structured data.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Adjusters spend significant time gathering, reading, re-keying, checking, and summarizing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AI can reduce repetitive work while keeping people responsible for judgment, exceptions, and customer outcomes.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The goal is not “AI replaces the adjuster” — it is “AI gives the adjuster a better operating system.”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38862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64008" cy="123444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1" y="1490472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INFORMATION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Many sources, formats, and levels of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834640"/>
            <a:ext cx="38862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2834640"/>
            <a:ext cx="64008" cy="123444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2953512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DECISIONS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Rules + evidence + experience + judgment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297680"/>
            <a:ext cx="38862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297680"/>
            <a:ext cx="64008" cy="123444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4416552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CUSTOMER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Speed and transparency matter when people need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The End-to-End Claims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82880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13432"/>
            <a:ext cx="1682496" cy="9966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Claim
received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816352"/>
            <a:ext cx="41148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240280"/>
            <a:ext cx="1828800" cy="1143000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313432"/>
            <a:ext cx="1682496" cy="9966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AI
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816352"/>
            <a:ext cx="41148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240280"/>
            <a:ext cx="1828800" cy="1143000"/>
          </a:xfrm>
          <a:prstGeom prst="roundRect">
            <a:avLst/>
          </a:prstGeom>
          <a:solidFill>
            <a:srgbClr val="ECF9F2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313432"/>
            <a:ext cx="1682496" cy="9966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03720" y="2816352"/>
            <a:ext cx="41148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2240280"/>
            <a:ext cx="1828800" cy="1143000"/>
          </a:xfrm>
          <a:prstGeom prst="roundRect">
            <a:avLst/>
          </a:prstGeom>
          <a:solidFill>
            <a:srgbClr val="FFF7E0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313432"/>
            <a:ext cx="1682496" cy="9966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Adjuster
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89720" y="2816352"/>
            <a:ext cx="41148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2240280"/>
            <a:ext cx="1828800" cy="1143000"/>
          </a:xfrm>
          <a:prstGeom prst="roundRect">
            <a:avLst/>
          </a:prstGeom>
          <a:solidFill>
            <a:srgbClr val="EEF7EE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2313432"/>
            <a:ext cx="1682496" cy="9966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Final decision /
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333756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64008" cy="123444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187952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1 • Intake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Capture claim notice, documents, policy/context and metadata.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069080"/>
            <a:ext cx="333756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4069080"/>
            <a:ext cx="64008" cy="123444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4187952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2 •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Extract facts, classify the claim, summarize evidence and identify missing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69080"/>
            <a:ext cx="333756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69080"/>
            <a:ext cx="64008" cy="123444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187952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3 • Human decision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Adjuster reviews AI outputs, resolves exceptions and makes/approves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What Makes Manual Claims Processing Difficult?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PAIN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C4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4475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Re-keying data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Information is copied between documents and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60020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Document overload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Adjusters may need to read many pages before acting.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2588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25880"/>
            <a:ext cx="64008" cy="160020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4475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Inconsistent inputs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Scans, PDFs, emails and forms vary in quality and 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74720"/>
            <a:ext cx="64008" cy="160020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593591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Slow handoffs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Work waits between intake, validation, review and downstream teams.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474720"/>
            <a:ext cx="64008" cy="1600200"/>
          </a:xfrm>
          <a:prstGeom prst="rect">
            <a:avLst/>
          </a:prstGeom>
          <a:solidFill>
            <a:srgbClr val="C4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593591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Hidden exceptions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Missing or conflicting information can surface late.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474720"/>
            <a:ext cx="3429000" cy="16002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474720"/>
            <a:ext cx="64008" cy="160020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593591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Limited scalability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Adding volume often means adding people and cycle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AI/GenAI Architecture for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143000"/>
            <a:ext cx="2331720" cy="566928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216152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Claim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143000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216152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FNOL • PDFs • emails • images • forms • policy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30552" y="1709928"/>
            <a:ext cx="0" cy="219456"/>
          </a:xfrm>
          <a:prstGeom prst="line">
            <a:avLst/>
          </a:prstGeom>
          <a:ln w="1905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1929384"/>
            <a:ext cx="2331720" cy="566928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02536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Document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929384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002536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OCR • layout understanding • document classification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0552" y="2496312"/>
            <a:ext cx="0" cy="219456"/>
          </a:xfrm>
          <a:prstGeom prst="line">
            <a:avLst/>
          </a:prstGeom>
          <a:ln w="1905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2715768"/>
            <a:ext cx="2331720" cy="566928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2788920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GenAI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715768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2788920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LLM • extraction • summarization • reasoning over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30552" y="3282696"/>
            <a:ext cx="0" cy="219455"/>
          </a:xfrm>
          <a:prstGeom prst="line">
            <a:avLst/>
          </a:prstGeom>
          <a:ln w="1905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3502152"/>
            <a:ext cx="2331720" cy="566928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3575304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Validation &amp; orchestration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502152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3575304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Business rules • confidence checks • workflow • APIs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30552" y="4069080"/>
            <a:ext cx="0" cy="219456"/>
          </a:xfrm>
          <a:prstGeom prst="line">
            <a:avLst/>
          </a:prstGeom>
          <a:ln w="1905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0120" y="4288536"/>
            <a:ext cx="2331720" cy="566928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4361688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Human-in-the-loop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288536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6472" y="4361688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Adjuster review • exception handling • 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30552" y="4855464"/>
            <a:ext cx="0" cy="219456"/>
          </a:xfrm>
          <a:prstGeom prst="line">
            <a:avLst/>
          </a:prstGeom>
          <a:ln w="1905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" y="5074920"/>
            <a:ext cx="2331720" cy="566928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" y="5148072"/>
            <a:ext cx="2185415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Enterprise systems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5074920"/>
            <a:ext cx="717804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6472" y="5148072"/>
            <a:ext cx="7031736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02B52"/>
                </a:solidFill>
                <a:latin typeface="Aptos"/>
              </a:rPr>
              <a:t>Claims platform • data warehouse • audit/reporting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806440"/>
            <a:ext cx="10881360" cy="50292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806440"/>
            <a:ext cx="64008" cy="50292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9253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02B52"/>
                </a:solidFill>
                <a:latin typeface="Aptos"/>
              </a:rPr>
              <a:t>Design principle</a:t>
            </a:r>
          </a:p>
          <a:p>
            <a:pPr>
              <a:spcBef>
                <a:spcPts val="600"/>
              </a:spcBef>
              <a:defRPr sz="1000">
                <a:solidFill>
                  <a:srgbClr val="5B6774"/>
                </a:solidFill>
                <a:latin typeface="Aptos"/>
              </a:defRPr>
            </a:pPr>
            <a:r>
              <a:t>AI produces evidence and recommendations; controls and people remain part of the decision loop.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Document Understanding: Turning Unstructured Data into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AI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291840" cy="42062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20624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44752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B52"/>
                </a:solidFill>
                <a:latin typeface="Aptos"/>
              </a:rPr>
              <a:t>1 • Ingest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PDFs, scanned forms, emails, letters, estimates and supporting documents.</a:t>
            </a:r>
            <a:br/>
            <a:br/>
            <a:r>
              <a:t>OCR converts images into machine-readable text.</a:t>
            </a:r>
            <a:br/>
            <a:br/>
            <a:r>
              <a:t>Document understanding identifies structure such as tables, fields, headers and sections.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291840" cy="42062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64008" cy="420624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444752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B52"/>
                </a:solidFill>
                <a:latin typeface="Aptos"/>
              </a:rPr>
              <a:t>2 • Understand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Classify document type and locate relevant evidence.</a:t>
            </a:r>
            <a:br/>
            <a:br/>
            <a:r>
              <a:t>Extract key fields from the right context instead of treating every page the same.</a:t>
            </a:r>
            <a:br/>
            <a:br/>
            <a:r>
              <a:t>LLMs can help interpret narrative text and produce concise summaries.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325880"/>
            <a:ext cx="3291840" cy="42062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325880"/>
            <a:ext cx="64008" cy="420624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444752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B52"/>
                </a:solidFill>
                <a:latin typeface="Aptos"/>
              </a:rPr>
              <a:t>3 • Validate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Check extracted values against rules, reference data and expected formats.</a:t>
            </a:r>
            <a:br/>
            <a:br/>
            <a:r>
              <a:t>Flag low-confidence or conflicting information for human review.</a:t>
            </a:r>
            <a:br/>
            <a:br/>
            <a:r>
              <a:t>Maintain traceability to the source document.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Claim Classification &amp; Data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AI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05740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9903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02B52"/>
                </a:solidFill>
                <a:latin typeface="Aptos"/>
              </a:rPr>
              <a:t>Incoming claim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783080"/>
            <a:ext cx="59436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1325880"/>
            <a:ext cx="2057400" cy="914400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39903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02B52"/>
                </a:solidFill>
                <a:latin typeface="Aptos"/>
              </a:rPr>
              <a:t>Classify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1783080"/>
            <a:ext cx="59436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1325880"/>
            <a:ext cx="2057400" cy="914400"/>
          </a:xfrm>
          <a:prstGeom prst="roundRect">
            <a:avLst/>
          </a:prstGeom>
          <a:solidFill>
            <a:srgbClr val="ECF9F2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39903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02B52"/>
                </a:solidFill>
                <a:latin typeface="Aptos"/>
              </a:rPr>
              <a:t>Extract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1783080"/>
            <a:ext cx="594360" cy="0"/>
          </a:xfrm>
          <a:prstGeom prst="line">
            <a:avLst/>
          </a:prstGeom>
          <a:ln w="31750">
            <a:solidFill>
              <a:srgbClr val="236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325880"/>
            <a:ext cx="2057400" cy="914400"/>
          </a:xfrm>
          <a:prstGeom prst="roundRect">
            <a:avLst/>
          </a:prstGeom>
          <a:solidFill>
            <a:srgbClr val="FFF7E0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1399032"/>
            <a:ext cx="1911095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02B52"/>
                </a:solidFill>
                <a:latin typeface="Aptos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5212080" cy="118872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64008" cy="118872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907791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Classification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Identify claim type / line of business and route to the correct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88920"/>
            <a:ext cx="5212080" cy="118872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64008" cy="118872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907791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Extraction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Capture structured facts from documents and narratives.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97679"/>
            <a:ext cx="5212080" cy="118872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297679"/>
            <a:ext cx="64008" cy="118872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416551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Normalization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Convert different representations into consistent fields.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97679"/>
            <a:ext cx="5212080" cy="118872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97679"/>
            <a:ext cx="64008" cy="118872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16551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Confidence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Attach confidence or validation status so reviewers know what needs attention.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Human-in-the-Loop: AI Assists, People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91840" cy="448056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448056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53312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AI does the heavy lifting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• Reads and organizes information</a:t>
            </a:r>
            <a:br/>
            <a:r>
              <a:t>• Extracts candidate fields</a:t>
            </a:r>
            <a:br/>
            <a:r>
              <a:t>• Classifies and summarizes</a:t>
            </a:r>
            <a:br/>
            <a:r>
              <a:t>• Highlights missing/conflicting data</a:t>
            </a:r>
            <a:br/>
            <a:r>
              <a:t>• Recommends next actions</a:t>
            </a:r>
            <a:br/>
            <a:r>
              <a:t>• Creates a review-ready package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91840" cy="448056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64008" cy="448056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353312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The adjuster brings judgment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• Reviews evidence</a:t>
            </a:r>
            <a:br/>
            <a:r>
              <a:t>• Resolves exceptions</a:t>
            </a:r>
            <a:br/>
            <a:r>
              <a:t>• Applies business context</a:t>
            </a:r>
            <a:br/>
            <a:r>
              <a:t>• Handles sensitive or unusual cases</a:t>
            </a:r>
            <a:br/>
            <a:r>
              <a:t>• Approves / overrides AI output</a:t>
            </a:r>
            <a:br/>
            <a:r>
              <a:t>• Owns the customer 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291840" cy="448056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64008" cy="448056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353312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Controls build trust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• Confidence thresholds</a:t>
            </a:r>
            <a:br/>
            <a:r>
              <a:t>• Audit trail</a:t>
            </a:r>
            <a:br/>
            <a:r>
              <a:t>• Source traceability</a:t>
            </a:r>
            <a:br/>
            <a:r>
              <a:t>• Access controls</a:t>
            </a:r>
            <a:br/>
            <a:r>
              <a:t>• Monitoring &amp; feedback</a:t>
            </a:r>
            <a:br/>
            <a:r>
              <a:t>• Clear escalation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Automation: Connecting Intelligence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417320" cy="822960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Trigger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93976" y="1828800"/>
            <a:ext cx="1417320" cy="822960"/>
          </a:xfrm>
          <a:prstGeom prst="roundRect">
            <a:avLst/>
          </a:prstGeom>
          <a:solidFill>
            <a:srgbClr val="F6FA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Retrieve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11296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76472" y="1828800"/>
            <a:ext cx="1417320" cy="822960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9624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Understand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58968" y="1828800"/>
            <a:ext cx="1417320" cy="822960"/>
          </a:xfrm>
          <a:prstGeom prst="roundRect">
            <a:avLst/>
          </a:prstGeom>
          <a:solidFill>
            <a:srgbClr val="ECF9F2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Validate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76288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41464" y="1828800"/>
            <a:ext cx="1417320" cy="822960"/>
          </a:xfrm>
          <a:prstGeom prst="roundRect">
            <a:avLst/>
          </a:prstGeom>
          <a:solidFill>
            <a:srgbClr val="FFF7E0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Route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58784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28800"/>
            <a:ext cx="1417320" cy="822960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7112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Update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41280" y="2240280"/>
            <a:ext cx="246888" cy="0"/>
          </a:xfrm>
          <a:prstGeom prst="line">
            <a:avLst/>
          </a:prstGeom>
          <a:ln w="2286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506456" y="1828800"/>
            <a:ext cx="1417320" cy="822960"/>
          </a:xfrm>
          <a:prstGeom prst="roundRect">
            <a:avLst/>
          </a:prstGeom>
          <a:solidFill>
            <a:srgbClr val="ECF9F2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79608" y="1901952"/>
            <a:ext cx="12710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02B52"/>
                </a:solidFill>
                <a:latin typeface="Aptos"/>
              </a:rPr>
              <a:t>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10424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Workflow automation moves information between systems and teams without manual handoffs.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AI handles cognitive tasks; automation handles repeatable actions and orchestration.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strongest pattern is AI + rules + APIs + workflow + human oversight — not a single model acting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What Can Claims Automation Save?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INDUSTRY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368CD"/>
                </a:solidFill>
                <a:latin typeface="Aptos Display"/>
              </a:rPr>
              <a:t>60–70%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of claims-processing steps that McKinsey said could be automated in payer environments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94EB4"/>
                </a:solidFill>
                <a:latin typeface="Aptos Display"/>
              </a:rPr>
              <a:t>Up to 30%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potential claims-processing operating-cost reduction in payer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53312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3915B"/>
                </a:solidFill>
                <a:latin typeface="Aptos Display"/>
              </a:rPr>
              <a:t>&gt;50%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of claims activities could be automated by 2030 in McKinsey's insurance outlook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23444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53312"/>
            <a:ext cx="2377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E8A91B"/>
                </a:solidFill>
                <a:latin typeface="Aptos Display"/>
              </a:rPr>
              <a:t>23 days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reduction in complex liability-assessment time in a published insurer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5166360" cy="20574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64008" cy="205740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182112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How to interpret these numbers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These are industry benchmarks and published examples—not a guaranteed savings rate for every insurer. Actual value depends on claim complexity, digital intake, data quality, integration, controls and human-review requirements.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40"/>
            <a:ext cx="5166360" cy="20574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063240"/>
            <a:ext cx="64008" cy="205740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182112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2B52"/>
                </a:solidFill>
                <a:latin typeface="Aptos"/>
              </a:rPr>
              <a:t>Where the time goes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Document intake • OCR/extraction • classification • routing • data entry • validation • status updates • correspondence • downstream system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60"/>
            <a:ext cx="10652760" cy="566928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394960"/>
            <a:ext cx="64008" cy="566928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513832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2B52"/>
                </a:solidFill>
                <a:latin typeface="Aptos"/>
              </a:rPr>
              <a:t>Business message</a:t>
            </a:r>
          </a:p>
          <a:p>
            <a:pPr>
              <a:spcBef>
                <a:spcPts val="600"/>
              </a:spcBef>
              <a:defRPr sz="1000">
                <a:solidFill>
                  <a:srgbClr val="5B6774"/>
                </a:solidFill>
                <a:latin typeface="Aptos"/>
              </a:defRPr>
            </a:pPr>
            <a:r>
              <a:t>The biggest opportunity is not automating one task—it is reducing end-to-end cycle time across the entire claims journey.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199632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5B6774"/>
                </a:solidFill>
                <a:latin typeface="Aptos"/>
              </a:rPr>
              <a:t>Sources: McKinsey — Insurance 2030; McKinsey — Digital-first claims management; McKinsey — Aviva claims transformation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Faster Claims Can Build Customer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CUSTOMER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C44343"/>
                </a:solidFill>
                <a:latin typeface="Aptos Display"/>
              </a:rPr>
              <a:t>52%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of customers with poor/just-OK digital claim experiences were likely to leave or not renew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5331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3915B"/>
                </a:solidFill>
                <a:latin typeface="Aptos Display"/>
              </a:rPr>
              <a:t>4%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at risk of attrition among customers rating their digital claim experience excellent/perfect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53312"/>
            <a:ext cx="3063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368CD"/>
                </a:solidFill>
                <a:latin typeface="Aptos Display"/>
              </a:rPr>
              <a:t>22%</a:t>
            </a:r>
          </a:p>
          <a:p>
            <a:pPr algn="ctr">
              <a:defRPr sz="1000">
                <a:solidFill>
                  <a:srgbClr val="5B6774"/>
                </a:solidFill>
                <a:latin typeface="Aptos"/>
              </a:defRPr>
            </a:pPr>
            <a:r>
              <a:t>still use multiple channels to find answers to the same claims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6492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Fast acknowledgement tells the customer: “We received your claim, we are working on it, and here is what happens next.”</a:t>
            </a:r>
          </a:p>
          <a:p>
            <a:pPr>
              <a:spcAft>
                <a:spcPts val="9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Proactive status updates reduce uncertainty and reduce the need for customers to repeatedly call or search for information.</a:t>
            </a:r>
          </a:p>
          <a:p>
            <a:pPr>
              <a:spcAft>
                <a:spcPts val="9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A smoother claims experience can strengthen trust, loyalty and retention—creating a stronger foundation for future business.</a:t>
            </a:r>
          </a:p>
          <a:p>
            <a:pPr>
              <a:spcAft>
                <a:spcPts val="9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t>Speed must be combined with accuracy, transparency and human support for exceptions.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246120"/>
            <a:ext cx="3794760" cy="1874519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3246120"/>
            <a:ext cx="64008" cy="1874519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3364991"/>
            <a:ext cx="35204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2B52"/>
                </a:solidFill>
                <a:latin typeface="Aptos"/>
              </a:rPr>
              <a:t>What the research says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J.D. Power's 2025 study found customer satisfaction is highest when claims can be managed digitally, while proactive updates are a major satisfaction driver. Insurers delivered adequate digital updates only 22% of the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199632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5B6774"/>
                </a:solidFill>
                <a:latin typeface="Aptos"/>
              </a:rPr>
              <a:t>Source: J.D. Power, 2025 U.S. Claims Digital Experience Study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AI Can Automate Claims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CUSTOMER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53312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Instant acknowledgement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Generate an acknowledgement message/letter confirming receipt, claim reference and next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64008" cy="1234440"/>
          </a:xfrm>
          <a:prstGeom prst="rect">
            <a:avLst/>
          </a:prstGeom>
          <a:solidFill>
            <a:srgbClr val="69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353312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Coverage letter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Prepare a draft coverage communication using approved templates, policy data and validated claim 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234440"/>
          </a:xfrm>
          <a:prstGeom prst="rect">
            <a:avLst/>
          </a:prstGeom>
          <a:solidFill>
            <a:srgbClr val="23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353312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Status updates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Generate personalized progress updates, missing-information requests and next-step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64008" cy="123444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907791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Decision letters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Create draft approval, denial or settlement communications from validated workflow outcomes and approved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78892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788920"/>
            <a:ext cx="64008" cy="1234440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907791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Adjuster summary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Create a concise, evidence-linked claim summary so adjusters spend less time reading.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29000" cy="123444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788920"/>
            <a:ext cx="64008" cy="1234440"/>
          </a:xfrm>
          <a:prstGeom prst="rect">
            <a:avLst/>
          </a:prstGeom>
          <a:solidFill>
            <a:srgbClr val="C4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907791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Audit-ready record</a:t>
            </a:r>
          </a:p>
          <a:p>
            <a:pPr>
              <a:spcBef>
                <a:spcPts val="600"/>
              </a:spcBef>
              <a:defRPr sz="1100">
                <a:solidFill>
                  <a:srgbClr val="5B6774"/>
                </a:solidFill>
                <a:latin typeface="Aptos"/>
              </a:defRPr>
            </a:pPr>
            <a:r>
              <a:t>Capture source evidence, generated content, approvals and timestamps for traceability.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927080" cy="105156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480560"/>
            <a:ext cx="64008" cy="1051560"/>
          </a:xfrm>
          <a:prstGeom prst="rect">
            <a:avLst/>
          </a:prstGeom>
          <a:solidFill>
            <a:srgbClr val="10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599432"/>
            <a:ext cx="10652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B52"/>
                </a:solidFill>
                <a:latin typeface="Aptos"/>
              </a:rPr>
              <a:t>Guardrail</a:t>
            </a:r>
          </a:p>
          <a:p>
            <a:pPr>
              <a:spcBef>
                <a:spcPts val="600"/>
              </a:spcBef>
              <a:defRPr sz="1200">
                <a:solidFill>
                  <a:srgbClr val="5B6774"/>
                </a:solidFill>
                <a:latin typeface="Aptos"/>
              </a:defRPr>
            </a:pPr>
            <a:r>
              <a:t>Generative AI should draft from approved data and templates. Coverage decisions and regulated communications should remain subject to insurer controls and appropriate human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199632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5B6774"/>
                </a:solidFill>
                <a:latin typeface="Aptos"/>
              </a:rPr>
              <a:t>Conceptual operating model; exact letter requirements vary by jurisdiction and line of business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02B52"/>
                </a:solidFill>
                <a:latin typeface="Aptos Display"/>
              </a:rPr>
              <a:t>The Future: Intelligent, Connected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1089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368CD"/>
                </a:solidFill>
                <a:latin typeface="Aptos"/>
              </a:rPr>
              <a:t>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24028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2112264" cy="101498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Today
Digital intake
+ automation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212848"/>
            <a:ext cx="457200" cy="0"/>
          </a:xfrm>
          <a:prstGeom prst="line">
            <a:avLst/>
          </a:prstGeom>
          <a:ln w="2540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645920"/>
            <a:ext cx="2240280" cy="1143000"/>
          </a:xfrm>
          <a:prstGeom prst="roundRect">
            <a:avLst/>
          </a:prstGeom>
          <a:solidFill>
            <a:srgbClr val="EEE9FF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709928"/>
            <a:ext cx="2112264" cy="101498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Next
AI-assisted
claims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2212848"/>
            <a:ext cx="457200" cy="0"/>
          </a:xfrm>
          <a:prstGeom prst="line">
            <a:avLst/>
          </a:prstGeom>
          <a:ln w="2540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645920"/>
            <a:ext cx="2240280" cy="1143000"/>
          </a:xfrm>
          <a:prstGeom prst="roundRect">
            <a:avLst/>
          </a:prstGeom>
          <a:solidFill>
            <a:srgbClr val="ECF9F2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09928"/>
            <a:ext cx="2112264" cy="101498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Emerging
Agentic
orchestration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0" y="2212848"/>
            <a:ext cx="457200" cy="0"/>
          </a:xfrm>
          <a:prstGeom prst="line">
            <a:avLst/>
          </a:prstGeom>
          <a:ln w="2540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8280" y="1645920"/>
            <a:ext cx="2240280" cy="1143000"/>
          </a:xfrm>
          <a:prstGeom prst="roundRect">
            <a:avLst/>
          </a:prstGeom>
          <a:solidFill>
            <a:srgbClr val="FFF7E0"/>
          </a:solidFill>
          <a:ln>
            <a:solidFill>
              <a:srgbClr val="236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709928"/>
            <a:ext cx="2112264" cy="101498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B52"/>
                </a:solidFill>
                <a:latin typeface="Aptos"/>
              </a:rPr>
              <a:t>Vision
Straight-through
simple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Simple, low-risk claims can move rapidly through automated pathways.</a:t>
            </a:r>
          </a:p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Complex claims still benefit from expert adjusters, with AI providing evidence, summaries and next-best actions.</a:t>
            </a:r>
          </a:p>
          <a:p>
            <a:pPr>
              <a:spcAft>
                <a:spcPts val="9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The competitive advantage shifts from “having AI” to building a trusted end-to-end claims operating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199632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5B6774"/>
                </a:solidFill>
                <a:latin typeface="Aptos"/>
              </a:rPr>
              <a:t>Source: McKinsey, Insurance 2030 — human + AI claims operating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 Display"/>
              </a:rPr>
              <a:t>The future of claims is faster, smarter — and human-centered.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331720"/>
            <a:ext cx="8503920" cy="1143000"/>
          </a:xfrm>
          <a:prstGeom prst="roundRect">
            <a:avLst/>
          </a:prstGeom>
          <a:solidFill>
            <a:srgbClr val="F6FA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331720"/>
            <a:ext cx="64008" cy="1143000"/>
          </a:xfrm>
          <a:prstGeom prst="rect">
            <a:avLst/>
          </a:prstGeom>
          <a:solidFill>
            <a:srgbClr val="E8A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2450591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B52"/>
                </a:solidFill>
                <a:latin typeface="Aptos"/>
              </a:rPr>
              <a:t>THE TAKEAWAY</a:t>
            </a:r>
          </a:p>
          <a:p>
            <a:pPr>
              <a:spcBef>
                <a:spcPts val="600"/>
              </a:spcBef>
              <a:defRPr sz="1300">
                <a:solidFill>
                  <a:srgbClr val="5B6774"/>
                </a:solidFill>
                <a:latin typeface="Aptos"/>
              </a:defRPr>
            </a:pPr>
            <a:r>
              <a:t>AI understands information. Automation moves work. People provide judgment. Better experiences build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Questions &amp; Discussion</a:t>
            </a:r>
          </a:p>
          <a:p>
            <a:pPr algn="ctr">
              <a:defRPr sz="1800">
                <a:solidFill>
                  <a:srgbClr val="CFE0F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CFE0F5"/>
                </a:solidFill>
                <a:latin typeface="Aptos"/>
              </a:rPr>
              <a:t>Santosh Kumar Vududala  •  IEEE Computer Society  •  Columbia Section (USA)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B6774"/>
                </a:solidFill>
                <a:latin typeface="Aptos"/>
              </a:rPr>
              <a:t>Santosh Kumar Vududala  •  The Future of Claims Management with AI and Automation  •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